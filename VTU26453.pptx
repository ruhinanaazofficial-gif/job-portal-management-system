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boldItalic r:id="rId18"/>
    </p:embeddedFon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
      <p:font typeface="Gotham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117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Information Technology</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10211IT224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Job Portal Management System</a:t>
            </a: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RUHINA NAAZ K – VTU26453 – 23UEIT0024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Visumathi</a:t>
            </a:r>
            <a:r>
              <a:rPr lang="en-US" sz="3000" dirty="0">
                <a:latin typeface="Cambria" panose="02040503050406030204" pitchFamily="18" charset="0"/>
                <a:ea typeface="Cambria" panose="02040503050406030204" pitchFamily="18" charset="0"/>
              </a:rPr>
              <a:t> J/ Professor/ IT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1772415" y="7048309"/>
            <a:ext cx="14743170"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SDG: SDG No – </a:t>
            </a:r>
            <a:r>
              <a:rPr lang="en-US" sz="2400" dirty="0"/>
              <a:t>SDG 10 – Reduced Inequalities</a:t>
            </a:r>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91588" y="2364161"/>
            <a:ext cx="15082325" cy="6488828"/>
          </a:xfrm>
          <a:prstGeom prst="rect">
            <a:avLst/>
          </a:prstGeom>
          <a:noFill/>
        </p:spPr>
        <p:txBody>
          <a:bodyPr wrap="square" rtlCol="0">
            <a:spAutoFit/>
          </a:bodyPr>
          <a:lstStyle/>
          <a:p>
            <a:pPr algn="just">
              <a:lnSpc>
                <a:spcPct val="150000"/>
              </a:lnSpc>
            </a:pPr>
            <a:r>
              <a:rPr lang="en-US" sz="2800" dirty="0"/>
              <a:t>The job market today is extremely competitive, with a large number of applicants competing for limited opportunities every day. Traditional methods of searching for jobs are often slow, inefficient, and lack clarity for both job seekers and employers. Therefore, a centralized digital solution is necessary to connect talent with opportunities effectively.</a:t>
            </a:r>
          </a:p>
          <a:p>
            <a:pPr algn="just">
              <a:lnSpc>
                <a:spcPct val="150000"/>
              </a:lnSpc>
            </a:pPr>
            <a:r>
              <a:rPr lang="en-US" sz="2800" dirty="0"/>
              <a:t>This project introduces a </a:t>
            </a:r>
            <a:r>
              <a:rPr lang="en-US" sz="2800" b="1" dirty="0"/>
              <a:t>Job Portal Web Application</a:t>
            </a:r>
            <a:r>
              <a:rPr lang="en-US" sz="2800" dirty="0"/>
              <a:t> developed using Spring Boot and </a:t>
            </a:r>
            <a:r>
              <a:rPr lang="en-US" sz="2800" dirty="0" err="1"/>
              <a:t>Thymeleaf</a:t>
            </a:r>
            <a:r>
              <a:rPr lang="en-US" sz="2800" dirty="0"/>
              <a:t>. It allows students and job seekers to explore and apply for job openings, while employers can post vacancies and manage applicants efficiently. Additionally, an Admin panel is included to supervise and control the platform. Role-based access ensures users can only access features relevant to their role, improving transparency, speed, and efficiency in the hiring process.</a:t>
            </a:r>
          </a:p>
          <a:p>
            <a:pPr algn="just">
              <a:lnSpc>
                <a:spcPct val="150000"/>
              </a:lnSpc>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176975" y="2469856"/>
            <a:ext cx="15082325" cy="5842497"/>
          </a:xfrm>
          <a:prstGeom prst="rect">
            <a:avLst/>
          </a:prstGeom>
          <a:noFill/>
        </p:spPr>
        <p:txBody>
          <a:bodyPr wrap="square" rtlCol="0">
            <a:spAutoFit/>
          </a:bodyPr>
          <a:lstStyle/>
          <a:p>
            <a:pPr algn="just">
              <a:lnSpc>
                <a:spcPct val="150000"/>
              </a:lnSpc>
            </a:pPr>
            <a:r>
              <a:rPr lang="en-US" sz="2800" dirty="0"/>
              <a:t>In today’s job market, there is no single platform that efficiently connects job seekers, employers, and administrators in a secure environment. Job seekers face difficulty tracking their application progress, while employers lack effective tools to filter and shortlist candidates. Manual hiring methods are slow, prone to errors, and lack real-time interaction.</a:t>
            </a:r>
          </a:p>
          <a:p>
            <a:pPr algn="just">
              <a:lnSpc>
                <a:spcPct val="150000"/>
              </a:lnSpc>
            </a:pPr>
            <a:r>
              <a:rPr lang="en-US" sz="2800" dirty="0"/>
              <a:t>Many existing systems fail to provide role-specific dashboards, resume handling, and proper application tracking. Hence, there is a strong need for an automated, role-based full-stack job portal that simplifies the entire recruitment process—from job posting to candidate selection—while improving transparency and reducing time and effort.</a:t>
            </a:r>
          </a:p>
          <a:p>
            <a:pPr algn="just">
              <a:lnSpc>
                <a:spcPct val="150000"/>
              </a:lnSpc>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6526" y="2569606"/>
            <a:ext cx="15082325" cy="5196166"/>
          </a:xfrm>
          <a:prstGeom prst="rect">
            <a:avLst/>
          </a:prstGeom>
          <a:noFill/>
        </p:spPr>
        <p:txBody>
          <a:bodyPr wrap="square" rtlCol="0">
            <a:spAutoFit/>
          </a:bodyPr>
          <a:lstStyle/>
          <a:p>
            <a:pPr algn="just">
              <a:lnSpc>
                <a:spcPct val="150000"/>
              </a:lnSpc>
            </a:pPr>
            <a:r>
              <a:rPr lang="en-US" sz="2800" dirty="0"/>
              <a:t>To design and build a secure, role-based full-stack Job Portal Web Application using Spring Boot and </a:t>
            </a:r>
            <a:r>
              <a:rPr lang="en-US" sz="2800" dirty="0" err="1"/>
              <a:t>Thymeleaf</a:t>
            </a:r>
            <a:r>
              <a:rPr lang="en-US" sz="2800" dirty="0"/>
              <a:t> that allows students to search and apply for jobs, employers to manage job postings, and administrators to monitor the system.</a:t>
            </a:r>
          </a:p>
          <a:p>
            <a:pPr algn="just">
              <a:lnSpc>
                <a:spcPct val="150000"/>
              </a:lnSpc>
            </a:pPr>
            <a:br>
              <a:rPr lang="en-US" sz="2800" dirty="0"/>
            </a:br>
            <a:r>
              <a:rPr lang="en-US" sz="2800" dirty="0"/>
              <a:t>To develop a complete application tracking system that includes real-time status updates (Applied, Shortlisted, Rejected), resume uploads, email notifications, and advanced job search filters based on location, skills, and experience—ensuring a smooth and transparent hiring process.</a:t>
            </a:r>
          </a:p>
          <a:p>
            <a:pPr algn="just">
              <a:lnSpc>
                <a:spcPct val="150000"/>
              </a:lnSpc>
            </a:pP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33843" y="2268905"/>
            <a:ext cx="15544800" cy="7135158"/>
          </a:xfrm>
          <a:prstGeom prst="rect">
            <a:avLst/>
          </a:prstGeom>
          <a:noFill/>
        </p:spPr>
        <p:txBody>
          <a:bodyPr wrap="square" rtlCol="0">
            <a:spAutoFit/>
          </a:bodyPr>
          <a:lstStyle/>
          <a:p>
            <a:pPr algn="just">
              <a:lnSpc>
                <a:spcPct val="150000"/>
              </a:lnSpc>
            </a:pPr>
            <a:r>
              <a:rPr lang="en-US" sz="2800" dirty="0"/>
              <a:t>The proposed system is a web-based Job Portal developed using Spring Boot (MVC, Security, JPA) and </a:t>
            </a:r>
            <a:r>
              <a:rPr lang="en-US" sz="2800" dirty="0" err="1"/>
              <a:t>Thymeleaf</a:t>
            </a:r>
            <a:r>
              <a:rPr lang="en-US" sz="2800" dirty="0"/>
              <a:t> as the frontend engine, running on localhost:8080.</a:t>
            </a:r>
          </a:p>
          <a:p>
            <a:pPr algn="just">
              <a:lnSpc>
                <a:spcPct val="150000"/>
              </a:lnSpc>
            </a:pPr>
            <a:r>
              <a:rPr lang="en-US" sz="2800" dirty="0"/>
              <a:t>It implements role-based access control with three roles: Student, Employer, and Admin, each having their own dashboard and restricted access.</a:t>
            </a:r>
          </a:p>
          <a:p>
            <a:pPr algn="just">
              <a:lnSpc>
                <a:spcPct val="150000"/>
              </a:lnSpc>
            </a:pPr>
            <a:r>
              <a:rPr lang="en-US" sz="2800" dirty="0"/>
              <a:t>Students can create profiles, upload resumes, search for jobs, apply, and monitor their application status. </a:t>
            </a:r>
          </a:p>
          <a:p>
            <a:pPr algn="just">
              <a:lnSpc>
                <a:spcPct val="150000"/>
              </a:lnSpc>
            </a:pPr>
            <a:r>
              <a:rPr lang="en-US" sz="2800" dirty="0"/>
              <a:t>Employers can post job openings, view applicants, and shortlist or reject candidates. </a:t>
            </a:r>
          </a:p>
          <a:p>
            <a:pPr algn="just">
              <a:lnSpc>
                <a:spcPct val="150000"/>
              </a:lnSpc>
            </a:pPr>
            <a:r>
              <a:rPr lang="en-US" sz="2800" dirty="0"/>
              <a:t>Admin manages users and job postings to maintain system integrity. </a:t>
            </a:r>
          </a:p>
          <a:p>
            <a:pPr algn="just">
              <a:lnSpc>
                <a:spcPct val="150000"/>
              </a:lnSpc>
            </a:pPr>
            <a:r>
              <a:rPr lang="en-US" sz="2800" dirty="0"/>
              <a:t>The platform includes dynamic job filtering based on location, skills, and experience using JavaScript and REST APIs. Email notifications are automatically sent during application submission and shortlisting. Passwords are secured using </a:t>
            </a:r>
            <a:r>
              <a:rPr lang="en-US" sz="2800" dirty="0" err="1"/>
              <a:t>BCrypt</a:t>
            </a:r>
            <a:r>
              <a:rPr lang="en-US" sz="2800" dirty="0"/>
              <a:t>, and all data is stored in a MySQL database.</a:t>
            </a:r>
          </a:p>
          <a:p>
            <a:pPr algn="just">
              <a:lnSpc>
                <a:spcPct val="150000"/>
              </a:lnSpc>
            </a:pP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C044695-8905-DABE-ABC2-6F4D5BEEC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562100"/>
            <a:ext cx="13411200" cy="731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610B2B-1F37-ECCD-187A-F9CD5BFF5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485900"/>
            <a:ext cx="13411200"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50402" y="1714500"/>
            <a:ext cx="15082325" cy="7135158"/>
          </a:xfrm>
          <a:prstGeom prst="rect">
            <a:avLst/>
          </a:prstGeom>
          <a:noFill/>
        </p:spPr>
        <p:txBody>
          <a:bodyPr wrap="square" rtlCol="0">
            <a:spAutoFit/>
          </a:bodyPr>
          <a:lstStyle/>
          <a:p>
            <a:pPr>
              <a:lnSpc>
                <a:spcPct val="150000"/>
              </a:lnSpc>
            </a:pPr>
            <a:r>
              <a:rPr lang="en-IN" sz="2800" b="1" dirty="0"/>
              <a:t>Frontend:</a:t>
            </a:r>
            <a:r>
              <a:rPr lang="en-IN" sz="2800" dirty="0"/>
              <a:t> HTML5, CSS3, JavaScript (ES6), </a:t>
            </a:r>
            <a:r>
              <a:rPr lang="en-IN" sz="2800" dirty="0" err="1"/>
              <a:t>Thymeleaf</a:t>
            </a:r>
            <a:r>
              <a:rPr lang="en-IN" sz="2800" dirty="0"/>
              <a:t>, Responsive design (Flexbox/Grid)</a:t>
            </a:r>
            <a:br>
              <a:rPr lang="en-IN" sz="2800" dirty="0"/>
            </a:br>
            <a:r>
              <a:rPr lang="en-IN" sz="2800" b="1" dirty="0"/>
              <a:t>Backend:</a:t>
            </a:r>
            <a:r>
              <a:rPr lang="en-IN" sz="2800" dirty="0"/>
              <a:t> Java 17, Spring Boot, Spring MVC, Spring Data JPA, Spring Security, </a:t>
            </a:r>
            <a:r>
              <a:rPr lang="en-IN" sz="2800" dirty="0" err="1"/>
              <a:t>JavaMailSender</a:t>
            </a:r>
            <a:r>
              <a:rPr lang="en-IN" sz="2800" dirty="0"/>
              <a:t>, </a:t>
            </a:r>
            <a:r>
              <a:rPr lang="en-IN" sz="2800" dirty="0" err="1"/>
              <a:t>MultipartFile</a:t>
            </a:r>
            <a:br>
              <a:rPr lang="en-IN" sz="2800" dirty="0"/>
            </a:br>
            <a:r>
              <a:rPr lang="en-IN" sz="2800" b="1" dirty="0"/>
              <a:t>Database:</a:t>
            </a:r>
            <a:r>
              <a:rPr lang="en-IN" sz="2800" dirty="0"/>
              <a:t> MySQL 8.0+</a:t>
            </a:r>
            <a:br>
              <a:rPr lang="en-IN" sz="2800" dirty="0"/>
            </a:br>
            <a:r>
              <a:rPr lang="en-IN" sz="2800" b="1" dirty="0"/>
              <a:t>Tools:</a:t>
            </a:r>
            <a:r>
              <a:rPr lang="en-IN" sz="2800" dirty="0"/>
              <a:t> Maven, Eclipse IDE, Postman, Git</a:t>
            </a:r>
          </a:p>
          <a:p>
            <a:pPr>
              <a:lnSpc>
                <a:spcPct val="150000"/>
              </a:lnSpc>
            </a:pPr>
            <a:r>
              <a:rPr lang="en-IN" sz="2800" b="1" dirty="0"/>
              <a:t>System Requirements:</a:t>
            </a:r>
            <a:endParaRPr lang="en-IN" sz="2800" dirty="0"/>
          </a:p>
          <a:p>
            <a:pPr>
              <a:lnSpc>
                <a:spcPct val="150000"/>
              </a:lnSpc>
            </a:pPr>
            <a:r>
              <a:rPr lang="en-IN" sz="2800" dirty="0"/>
              <a:t>OS: Windows 10/11 or Linux </a:t>
            </a:r>
          </a:p>
          <a:p>
            <a:pPr>
              <a:lnSpc>
                <a:spcPct val="150000"/>
              </a:lnSpc>
            </a:pPr>
            <a:r>
              <a:rPr lang="en-IN" sz="2800" dirty="0"/>
              <a:t>RAM: Minimum 8 GB </a:t>
            </a:r>
          </a:p>
          <a:p>
            <a:pPr>
              <a:lnSpc>
                <a:spcPct val="150000"/>
              </a:lnSpc>
            </a:pPr>
            <a:r>
              <a:rPr lang="en-IN" sz="2800" dirty="0"/>
              <a:t>JDK: 17+ </a:t>
            </a:r>
          </a:p>
          <a:p>
            <a:pPr>
              <a:lnSpc>
                <a:spcPct val="150000"/>
              </a:lnSpc>
            </a:pPr>
            <a:r>
              <a:rPr lang="en-IN" sz="2800" dirty="0"/>
              <a:t>MySQL Server: 8.0+ </a:t>
            </a:r>
          </a:p>
          <a:p>
            <a:pPr>
              <a:lnSpc>
                <a:spcPct val="150000"/>
              </a:lnSpc>
            </a:pPr>
            <a:r>
              <a:rPr lang="en-IN" sz="2800" dirty="0"/>
              <a:t>Browser: Latest Chrome/Firefox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962350" y="1471465"/>
            <a:ext cx="15082325" cy="9074151"/>
          </a:xfrm>
          <a:prstGeom prst="rect">
            <a:avLst/>
          </a:prstGeom>
          <a:noFill/>
        </p:spPr>
        <p:txBody>
          <a:bodyPr wrap="square" rtlCol="0">
            <a:spAutoFit/>
          </a:bodyPr>
          <a:lstStyle/>
          <a:p>
            <a:pPr>
              <a:lnSpc>
                <a:spcPct val="150000"/>
              </a:lnSpc>
            </a:pPr>
            <a:r>
              <a:rPr lang="en-US" sz="2800" b="1" dirty="0"/>
              <a:t>Module 1: Authentication &amp; Authorization</a:t>
            </a:r>
            <a:br>
              <a:rPr lang="en-US" sz="2800" dirty="0"/>
            </a:br>
            <a:r>
              <a:rPr lang="en-US" sz="2800" dirty="0"/>
              <a:t>Manages user registration and login for Students, Employers, and Admins. Spring Security ensures password encryption using </a:t>
            </a:r>
            <a:r>
              <a:rPr lang="en-US" sz="2800" dirty="0" err="1"/>
              <a:t>BCrypt</a:t>
            </a:r>
            <a:r>
              <a:rPr lang="en-US" sz="2800" dirty="0"/>
              <a:t> and controls access based on roles.</a:t>
            </a:r>
          </a:p>
          <a:p>
            <a:pPr>
              <a:lnSpc>
                <a:spcPct val="150000"/>
              </a:lnSpc>
            </a:pPr>
            <a:r>
              <a:rPr lang="en-US" sz="2800" b="1" dirty="0"/>
              <a:t>Module 2: Student Module</a:t>
            </a:r>
            <a:br>
              <a:rPr lang="en-US" sz="2800" dirty="0"/>
            </a:br>
            <a:r>
              <a:rPr lang="en-US" sz="2800" dirty="0"/>
              <a:t>Allows users to build profiles, upload resumes, browse jobs, apply, and track application status (Applied, Shortlisted, Rejected) through a personal dashboard.</a:t>
            </a:r>
          </a:p>
          <a:p>
            <a:pPr>
              <a:lnSpc>
                <a:spcPct val="150000"/>
              </a:lnSpc>
            </a:pPr>
            <a:r>
              <a:rPr lang="en-US" sz="2800" b="1" dirty="0"/>
              <a:t>Module 3: Employer Module</a:t>
            </a:r>
            <a:br>
              <a:rPr lang="en-US" sz="2800" dirty="0"/>
            </a:br>
            <a:r>
              <a:rPr lang="en-US" sz="2800" dirty="0"/>
              <a:t>Enables employers to post job details (title, description, skills, salary, location), view applicants, and take actions such as shortlisting or rejecting candidates, with email notifications triggered automatically.</a:t>
            </a:r>
          </a:p>
          <a:p>
            <a:pPr>
              <a:lnSpc>
                <a:spcPct val="150000"/>
              </a:lnSpc>
            </a:pPr>
            <a:r>
              <a:rPr lang="en-US" sz="2800" b="1" dirty="0"/>
              <a:t>Module 4: Admin &amp; Analytics Module</a:t>
            </a:r>
            <a:br>
              <a:rPr lang="en-US" sz="2800" dirty="0"/>
            </a:br>
            <a:r>
              <a:rPr lang="en-US" sz="2800" dirty="0"/>
              <a:t>Provides full control to the Admin for managing users and job postings. It also includes analytics such as total jobs, applications, and shortlisted candidates displayed through dashboards.</a:t>
            </a:r>
          </a:p>
          <a:p>
            <a:pPr>
              <a:lnSpc>
                <a:spcPct val="150000"/>
              </a:lnSpc>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C18CF84-1114-B444-9275-CFBF396CA3A5}"/>
              </a:ext>
            </a:extLst>
          </p:cNvPr>
          <p:cNvSpPr txBox="1"/>
          <p:nvPr/>
        </p:nvSpPr>
        <p:spPr>
          <a:xfrm>
            <a:off x="2504594" y="8304651"/>
            <a:ext cx="6781799" cy="1200329"/>
          </a:xfrm>
          <a:prstGeom prst="rect">
            <a:avLst/>
          </a:prstGeom>
          <a:noFill/>
        </p:spPr>
        <p:txBody>
          <a:bodyPr wrap="square" rtlCol="0">
            <a:spAutoFit/>
          </a:bodyPr>
          <a:lstStyle/>
          <a:p>
            <a:pPr algn="just"/>
            <a:r>
              <a:rPr lang="en-US" sz="2400" b="1" dirty="0"/>
              <a:t>Homepage:</a:t>
            </a:r>
            <a:br>
              <a:rPr lang="en-US" sz="2400" dirty="0"/>
            </a:br>
            <a:r>
              <a:rPr lang="en-US" sz="2400" dirty="0"/>
              <a:t>Displays featured jobs, navigation options, and a welcome section.</a:t>
            </a:r>
            <a:endParaRPr lang="en-IN" sz="2400" dirty="0"/>
          </a:p>
        </p:txBody>
      </p:sp>
      <p:sp>
        <p:nvSpPr>
          <p:cNvPr id="5" name="TextBox 4">
            <a:extLst>
              <a:ext uri="{FF2B5EF4-FFF2-40B4-BE49-F238E27FC236}">
                <a16:creationId xmlns:a16="http://schemas.microsoft.com/office/drawing/2014/main" id="{06F2D68F-35CA-15A6-9956-73972E37DBF5}"/>
              </a:ext>
            </a:extLst>
          </p:cNvPr>
          <p:cNvSpPr txBox="1"/>
          <p:nvPr/>
        </p:nvSpPr>
        <p:spPr>
          <a:xfrm>
            <a:off x="10305088" y="8304651"/>
            <a:ext cx="7086602" cy="830997"/>
          </a:xfrm>
          <a:prstGeom prst="rect">
            <a:avLst/>
          </a:prstGeom>
          <a:noFill/>
        </p:spPr>
        <p:txBody>
          <a:bodyPr wrap="square" rtlCol="0">
            <a:spAutoFit/>
          </a:bodyPr>
          <a:lstStyle/>
          <a:p>
            <a:pPr algn="just"/>
            <a:r>
              <a:rPr lang="en-US" sz="2400" b="1" dirty="0" err="1"/>
              <a:t>LoginPage</a:t>
            </a:r>
            <a:r>
              <a:rPr lang="en-US" sz="2400" b="1" dirty="0"/>
              <a:t>:</a:t>
            </a:r>
            <a:br>
              <a:rPr lang="en-US" sz="2400" dirty="0"/>
            </a:br>
            <a:r>
              <a:rPr lang="en-US" sz="2400" dirty="0"/>
              <a:t>Provides secure login with email and password.</a:t>
            </a:r>
            <a:endParaRPr lang="en-IN" sz="2400" dirty="0"/>
          </a:p>
        </p:txBody>
      </p:sp>
      <p:pic>
        <p:nvPicPr>
          <p:cNvPr id="3" name="Picture 2">
            <a:extLst>
              <a:ext uri="{FF2B5EF4-FFF2-40B4-BE49-F238E27FC236}">
                <a16:creationId xmlns:a16="http://schemas.microsoft.com/office/drawing/2014/main" id="{7E8BBA5F-89CB-EA88-A766-6F9BDC9DD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6211" y="1982349"/>
            <a:ext cx="6781800" cy="5830114"/>
          </a:xfrm>
          <a:prstGeom prst="rect">
            <a:avLst/>
          </a:prstGeom>
        </p:spPr>
      </p:pic>
      <p:pic>
        <p:nvPicPr>
          <p:cNvPr id="6" name="Picture 5">
            <a:extLst>
              <a:ext uri="{FF2B5EF4-FFF2-40B4-BE49-F238E27FC236}">
                <a16:creationId xmlns:a16="http://schemas.microsoft.com/office/drawing/2014/main" id="{70C1F96E-7AE0-5E4E-F768-5A18637D2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1660" y="1982349"/>
            <a:ext cx="7299010" cy="583011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CA06B17-4EB6-9E7A-20B3-55952F94FEEA}"/>
              </a:ext>
            </a:extLst>
          </p:cNvPr>
          <p:cNvSpPr txBox="1"/>
          <p:nvPr/>
        </p:nvSpPr>
        <p:spPr>
          <a:xfrm>
            <a:off x="9889383" y="8288804"/>
            <a:ext cx="7840966" cy="830997"/>
          </a:xfrm>
          <a:prstGeom prst="rect">
            <a:avLst/>
          </a:prstGeom>
          <a:noFill/>
        </p:spPr>
        <p:txBody>
          <a:bodyPr wrap="square" rtlCol="0">
            <a:spAutoFit/>
          </a:bodyPr>
          <a:lstStyle/>
          <a:p>
            <a:pPr algn="just"/>
            <a:r>
              <a:rPr lang="en-US" sz="2400" b="1" dirty="0" err="1"/>
              <a:t>MainModulePage</a:t>
            </a:r>
            <a:r>
              <a:rPr lang="en-US" sz="2400" b="1" dirty="0"/>
              <a:t>:</a:t>
            </a:r>
            <a:br>
              <a:rPr lang="en-US" sz="2400" dirty="0"/>
            </a:br>
            <a:r>
              <a:rPr lang="en-US" sz="2400" dirty="0"/>
              <a:t>Shows job listings with details like title, salary, and skills..</a:t>
            </a:r>
            <a:endParaRPr lang="en-IN" sz="2400" dirty="0"/>
          </a:p>
        </p:txBody>
      </p:sp>
      <p:sp>
        <p:nvSpPr>
          <p:cNvPr id="5" name="TextBox 4">
            <a:extLst>
              <a:ext uri="{FF2B5EF4-FFF2-40B4-BE49-F238E27FC236}">
                <a16:creationId xmlns:a16="http://schemas.microsoft.com/office/drawing/2014/main" id="{E28B6053-0055-DA21-F50A-24A83922CB00}"/>
              </a:ext>
            </a:extLst>
          </p:cNvPr>
          <p:cNvSpPr txBox="1"/>
          <p:nvPr/>
        </p:nvSpPr>
        <p:spPr>
          <a:xfrm>
            <a:off x="2592828" y="8305561"/>
            <a:ext cx="6825507" cy="1200329"/>
          </a:xfrm>
          <a:prstGeom prst="rect">
            <a:avLst/>
          </a:prstGeom>
          <a:noFill/>
        </p:spPr>
        <p:txBody>
          <a:bodyPr wrap="square" rtlCol="0">
            <a:spAutoFit/>
          </a:bodyPr>
          <a:lstStyle/>
          <a:p>
            <a:pPr algn="just"/>
            <a:r>
              <a:rPr lang="en-US" sz="2400" b="1" dirty="0" err="1"/>
              <a:t>OutputPage</a:t>
            </a:r>
            <a:r>
              <a:rPr lang="en-US" sz="2400" b="1" dirty="0"/>
              <a:t>:</a:t>
            </a:r>
            <a:br>
              <a:rPr lang="en-US" sz="2400" dirty="0"/>
            </a:br>
            <a:r>
              <a:rPr lang="en-US" sz="2400" dirty="0"/>
              <a:t>Displays application tracking status for users. </a:t>
            </a:r>
          </a:p>
          <a:p>
            <a:pPr algn="just"/>
            <a:endParaRPr lang="en-IN" sz="2400" dirty="0"/>
          </a:p>
        </p:txBody>
      </p:sp>
      <p:pic>
        <p:nvPicPr>
          <p:cNvPr id="3" name="Picture 2">
            <a:extLst>
              <a:ext uri="{FF2B5EF4-FFF2-40B4-BE49-F238E27FC236}">
                <a16:creationId xmlns:a16="http://schemas.microsoft.com/office/drawing/2014/main" id="{8FF5A42F-4B39-C714-678B-E606AB0632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2579" y="2147243"/>
            <a:ext cx="6568824" cy="5646719"/>
          </a:xfrm>
          <a:prstGeom prst="rect">
            <a:avLst/>
          </a:prstGeom>
        </p:spPr>
      </p:pic>
      <p:pic>
        <p:nvPicPr>
          <p:cNvPr id="6" name="Picture 5">
            <a:extLst>
              <a:ext uri="{FF2B5EF4-FFF2-40B4-BE49-F238E27FC236}">
                <a16:creationId xmlns:a16="http://schemas.microsoft.com/office/drawing/2014/main" id="{38BCB54A-04D8-59D3-863B-3C4F897BC2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17416" y="2475171"/>
            <a:ext cx="7992843" cy="504920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C8B199-BAA2-C3C6-6C0C-EE1C47ED5643}"/>
              </a:ext>
            </a:extLst>
          </p:cNvPr>
          <p:cNvSpPr txBox="1"/>
          <p:nvPr/>
        </p:nvSpPr>
        <p:spPr>
          <a:xfrm>
            <a:off x="2065724" y="2526154"/>
            <a:ext cx="16276406" cy="6488828"/>
          </a:xfrm>
          <a:prstGeom prst="rect">
            <a:avLst/>
          </a:prstGeom>
          <a:noFill/>
        </p:spPr>
        <p:txBody>
          <a:bodyPr wrap="square" rtlCol="0">
            <a:spAutoFit/>
          </a:bodyPr>
          <a:lstStyle/>
          <a:p>
            <a:pPr>
              <a:lnSpc>
                <a:spcPct val="150000"/>
              </a:lnSpc>
            </a:pPr>
            <a:r>
              <a:rPr lang="en-US" sz="2800" b="1" dirty="0"/>
              <a:t>Advantages:</a:t>
            </a:r>
            <a:endParaRPr lang="en-US" sz="2800" dirty="0"/>
          </a:p>
          <a:p>
            <a:pPr>
              <a:lnSpc>
                <a:spcPct val="150000"/>
              </a:lnSpc>
            </a:pPr>
            <a:r>
              <a:rPr lang="en-US" sz="2800" dirty="0"/>
              <a:t>Strong role-based security ensures proper access control. </a:t>
            </a:r>
          </a:p>
          <a:p>
            <a:pPr>
              <a:lnSpc>
                <a:spcPct val="150000"/>
              </a:lnSpc>
            </a:pPr>
            <a:r>
              <a:rPr lang="en-US" sz="2800" dirty="0"/>
              <a:t>Covers the complete hiring process from job posting to candidate selection. </a:t>
            </a:r>
          </a:p>
          <a:p>
            <a:pPr>
              <a:lnSpc>
                <a:spcPct val="150000"/>
              </a:lnSpc>
            </a:pPr>
            <a:r>
              <a:rPr lang="en-US" sz="2800" dirty="0"/>
              <a:t>Scalable architecture allows future expansion and integration. </a:t>
            </a:r>
          </a:p>
          <a:p>
            <a:pPr>
              <a:lnSpc>
                <a:spcPct val="150000"/>
              </a:lnSpc>
            </a:pPr>
            <a:r>
              <a:rPr lang="en-US" sz="2800" b="1" dirty="0"/>
              <a:t>Limitations:</a:t>
            </a:r>
            <a:endParaRPr lang="en-US" sz="2800" dirty="0"/>
          </a:p>
          <a:p>
            <a:pPr>
              <a:lnSpc>
                <a:spcPct val="150000"/>
              </a:lnSpc>
            </a:pPr>
            <a:r>
              <a:rPr lang="en-US" sz="2800" dirty="0"/>
              <a:t>No real-time chat feature between users. </a:t>
            </a:r>
          </a:p>
          <a:p>
            <a:pPr>
              <a:lnSpc>
                <a:spcPct val="150000"/>
              </a:lnSpc>
            </a:pPr>
            <a:r>
              <a:rPr lang="en-US" sz="2800" dirty="0"/>
              <a:t>Resumes are stored locally, which is not ideal for large-scale deployment. </a:t>
            </a:r>
          </a:p>
          <a:p>
            <a:pPr>
              <a:lnSpc>
                <a:spcPct val="150000"/>
              </a:lnSpc>
            </a:pPr>
            <a:r>
              <a:rPr lang="en-US" sz="2800" dirty="0"/>
              <a:t>No monetization features like paid job postings. </a:t>
            </a:r>
          </a:p>
          <a:p>
            <a:pPr>
              <a:lnSpc>
                <a:spcPct val="150000"/>
              </a:lnSpc>
            </a:pPr>
            <a:r>
              <a:rPr lang="en-US" sz="2800" dirty="0"/>
              <a:t>Runs on a single server without load balancing or distributed deployment.</a:t>
            </a:r>
          </a:p>
          <a:p>
            <a:pPr>
              <a:lnSpc>
                <a:spcPct val="150000"/>
              </a:lnSpc>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807</TotalTime>
  <Words>1053</Words>
  <Application>Microsoft Office PowerPoint</Application>
  <PresentationFormat>Custom</PresentationFormat>
  <Paragraphs>160</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Cambria</vt:lpstr>
      <vt:lpstr>Arial</vt:lpstr>
      <vt:lpstr>Gotham Bold Italics</vt:lpstr>
      <vt:lpstr>Times New Roman</vt:lpstr>
      <vt:lpstr>Bookman Old Style</vt:lpstr>
      <vt:lpstr>Calibri</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Admin</dc:creator>
  <cp:lastModifiedBy>Manikandan P</cp:lastModifiedBy>
  <cp:revision>19</cp:revision>
  <dcterms:created xsi:type="dcterms:W3CDTF">2006-08-16T00:00:00Z</dcterms:created>
  <dcterms:modified xsi:type="dcterms:W3CDTF">2026-05-06T05:04:26Z</dcterms:modified>
  <dc:identifier>DAHCaYqJ9OU</dc:identifier>
</cp:coreProperties>
</file>